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340000"/>
            <a:ext cx="1111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2332"/>
                </a:solidFill>
                <a:latin typeface="맑은 고딕"/>
              </a:rPr>
              <a:t>신규입사자 온보딩 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342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66666"/>
                </a:solidFill>
                <a:latin typeface="맑은 고딕"/>
              </a:rPr>
              <a:t>온보딩 과정의 디지털화 및 데이터 기반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94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  <a:latin typeface="맑은 고딕"/>
              </a:rPr>
              <a:t>인사기획팀 박상혁 선임  |  2026.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1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32"/>
                </a:solidFill>
                <a:latin typeface="맑은 고딕"/>
              </a:rPr>
              <a:t>기존 워크플로우 (AS-IS)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2340000"/>
            <a:ext cx="2473200" cy="180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2520000"/>
            <a:ext cx="22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맑은 고딕"/>
              </a:rPr>
              <a:t>① Excel 명단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951999"/>
            <a:ext cx="226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맑은 고딕"/>
              </a:rPr>
              <a:t>신규입사자 정보</a:t>
            </a:r>
          </a:p>
          <a:p>
            <a:r>
              <a:rPr sz="1200">
                <a:solidFill>
                  <a:srgbClr val="333333"/>
                </a:solidFill>
                <a:latin typeface="맑은 고딕"/>
              </a:rPr>
              <a:t>수동 입력·관리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3199" y="2340000"/>
            <a:ext cx="2473200" cy="180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1199" y="2520000"/>
            <a:ext cx="22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맑은 고딕"/>
              </a:rPr>
              <a:t>② 버디 활동 회신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1199" y="2951999"/>
            <a:ext cx="226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맑은 고딕"/>
              </a:rPr>
              <a:t>사진 촬영 → 스캔</a:t>
            </a:r>
          </a:p>
          <a:p>
            <a:r>
              <a:rPr sz="1200">
                <a:solidFill>
                  <a:srgbClr val="333333"/>
                </a:solidFill>
                <a:latin typeface="맑은 고딕"/>
              </a:rPr>
              <a:t>→ 이메일 제출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66399" y="2340000"/>
            <a:ext cx="2473200" cy="180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4399" y="2520000"/>
            <a:ext cx="22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맑은 고딕"/>
              </a:rPr>
              <a:t>③ 설문 수동 진행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4399" y="2951999"/>
            <a:ext cx="226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맑은 고딕"/>
              </a:rPr>
              <a:t>별도 도구 진행</a:t>
            </a:r>
          </a:p>
          <a:p>
            <a:r>
              <a:rPr sz="1200">
                <a:solidFill>
                  <a:srgbClr val="333333"/>
                </a:solidFill>
                <a:latin typeface="맑은 고딕"/>
              </a:rPr>
              <a:t>결과 수동 취합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9600" y="2340000"/>
            <a:ext cx="2473200" cy="180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87600" y="2520000"/>
            <a:ext cx="22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맑은 고딕"/>
              </a:rPr>
              <a:t>④ 폴더 분산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7600" y="2951999"/>
            <a:ext cx="226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맑은 고딕"/>
              </a:rPr>
              <a:t>yCloud 여러 폴더에</a:t>
            </a:r>
          </a:p>
          <a:p>
            <a:r>
              <a:rPr sz="1200">
                <a:solidFill>
                  <a:srgbClr val="333333"/>
                </a:solidFill>
                <a:latin typeface="맑은 고딕"/>
              </a:rPr>
              <a:t>산발적 저장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13199" y="3096000"/>
            <a:ext cx="540000" cy="180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26399" y="3096000"/>
            <a:ext cx="540000" cy="180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9039600" y="3096000"/>
            <a:ext cx="540000" cy="180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1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32"/>
                </a:solidFill>
                <a:latin typeface="맑은 고딕"/>
              </a:rPr>
              <a:t>문제점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188000"/>
            <a:ext cx="5220000" cy="396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88000"/>
            <a:ext cx="90000" cy="3960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368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HR 모니터링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872000"/>
            <a:ext cx="46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• 멘토링·OJT가 현업에 전적으로 일임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• 적응 상태 파악 채널 없음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• 문제 조기 감지·개입 불가 → 조기 이탈 리스크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73200" y="1188000"/>
            <a:ext cx="5220000" cy="396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73200" y="1188000"/>
            <a:ext cx="90000" cy="3960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3200" y="1368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데이터 분산으로 인한 관리 비효율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3200" y="1872000"/>
            <a:ext cx="46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• 버디 사진·설문 결과·완료 여부 폴더별 분산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• 전체 현황 파악 시 수동 취합 필요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• 실시간 모니터링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1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32"/>
                </a:solidFill>
                <a:latin typeface="맑은 고딕"/>
              </a:rPr>
              <a:t>시스템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62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이름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0" y="1620000"/>
            <a:ext cx="841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YURA 온보딩 관리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2160000"/>
            <a:ext cx="11113200" cy="1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7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접속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0" y="2700000"/>
            <a:ext cx="841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웹 기반, 별도 설치 없이 브라우저 접속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3240000"/>
            <a:ext cx="11113200" cy="1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378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계정 체계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0000" y="3780000"/>
            <a:ext cx="841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신규입사자·HR 관리자 계정 분리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320000"/>
            <a:ext cx="11113200" cy="1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486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대상 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0" y="4860000"/>
            <a:ext cx="841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맑은 고딕"/>
              </a:rPr>
              <a:t>신입공채 (3개월·3차 설문)  /  경력공채 (1개월·1차 설문)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5400000"/>
            <a:ext cx="11113200" cy="108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1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32"/>
                </a:solidFill>
                <a:latin typeface="맑은 고딕"/>
              </a:rPr>
              <a:t>주요 기능 — 신규입사자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188000"/>
            <a:ext cx="11113200" cy="136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88000"/>
            <a:ext cx="90000" cy="136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332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온보딩 프로그램 디지털화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728000"/>
            <a:ext cx="10681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버디 활동 6가지 모바일 이미지 첨부, 진행 타임라인 시각화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736000"/>
            <a:ext cx="11113200" cy="136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736000"/>
            <a:ext cx="90000" cy="136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880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설문조사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276000"/>
            <a:ext cx="10681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신입 3차·경력 1차, 기간 자동 관리, 주관식+척도 23문항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284000"/>
            <a:ext cx="11113200" cy="136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4284000"/>
            <a:ext cx="90000" cy="136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4428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AI 감성분석 + 이메일 자동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4824000"/>
            <a:ext cx="10681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주관식 응답에서 속성별 감정 추출, 멘토·팀장 대상 이메일 초안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1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32"/>
                </a:solidFill>
                <a:latin typeface="맑은 고딕"/>
              </a:rPr>
              <a:t>관리자 대시보드  ①  현황 모니터링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188000"/>
            <a:ext cx="11113200" cy="216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88000"/>
            <a:ext cx="90000" cy="2160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332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온보딩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728000"/>
            <a:ext cx="106812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KPI 카드 4개: 전체 입사자·완료·이번주 설문마감·마감 임박자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개인별 진행률 프로그레스 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564000"/>
            <a:ext cx="11113200" cy="2160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3564000"/>
            <a:ext cx="90000" cy="2160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708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마감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104000"/>
            <a:ext cx="106812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마감 임박자 클릭 → 대상자 팝업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D-1 이하 빨간색, D-2~3 주황색 강조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64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맑은 고딕"/>
              </a:rPr>
              <a:t>관리자 기능 1/2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111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32"/>
                </a:solidFill>
                <a:latin typeface="맑은 고딕"/>
              </a:rPr>
              <a:t>관리자 대시보드  ②  운영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188000"/>
            <a:ext cx="11113200" cy="136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88000"/>
            <a:ext cx="90000" cy="136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332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멘토/버디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728000"/>
            <a:ext cx="10681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직원별 멘토·버디 배정 팝업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신입·경력 구분 안내메일 HTML 자동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736000"/>
            <a:ext cx="11113200" cy="136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736000"/>
            <a:ext cx="90000" cy="136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2880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직원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276000"/>
            <a:ext cx="10681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CSV 일괄 업로드 또는 수기 입력(엑셀 붙여넣기)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등록 즉시 계정 자동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284000"/>
            <a:ext cx="11113200" cy="1368000"/>
          </a:xfrm>
          <a:prstGeom prst="roundRect">
            <a:avLst>
              <a:gd name="adj" fmla="val 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" y="4284000"/>
            <a:ext cx="90000" cy="136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4428000"/>
            <a:ext cx="10681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32"/>
                </a:solidFill>
                <a:latin typeface="맑은 고딕"/>
              </a:rPr>
              <a:t>공지사항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4824000"/>
            <a:ext cx="106812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맑은 고딕"/>
              </a:rPr>
              <a:t>인라인 편집, PDF 첨부·교체</a:t>
            </a:r>
          </a:p>
          <a:p>
            <a:r>
              <a:rPr sz="1300">
                <a:solidFill>
                  <a:srgbClr val="333333"/>
                </a:solidFill>
                <a:latin typeface="맑은 고딕"/>
              </a:rPr>
              <a:t>중요 공지 상단 고정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6408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맑은 고딕"/>
              </a:rPr>
              <a:t>관리자 기능 2/2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440000"/>
            <a:ext cx="1111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A2332"/>
                </a:solidFill>
                <a:latin typeface="맑은 고딕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2880000"/>
            <a:ext cx="11113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  <a:latin typeface="맑은 고딕"/>
              </a:rPr>
              <a:t>온보딩의 전 과정을 하나의 시스템에서 관리하고,
AI로 이탈 리스크를 조기에 감지합니다.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580000"/>
            <a:ext cx="11113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